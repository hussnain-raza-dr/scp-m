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Improved Model: SNGAN ResNet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Architecture Changes (vs Baseline)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Generator: residual upsampling blocks (512-&gt;256-&gt;128-&gt;3)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Discriminator: residual downsampling + spectral normalization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Latent dim: 100-&gt;128, embedding dim: 50-&gt;64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Minibatch stddev layer in D (mode collapse detection)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93D"/>
                </a:solidFill>
                <a:latin typeface="Calibri"/>
              </a:defRPr>
            </a:pPr>
            <a:r>
              <a:t>Training Changes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Loss: BCE -&gt; Hinge loss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Optimizer: Adam(beta1=0.0, beta2=0.9)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D:G update ratio: 1:1 -&gt; 5:1 (d_steps=5)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EMA on generator weights (decay=0.999)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100 epochs, batch size 64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4EC9B0"/>
                </a:solidFill>
                <a:latin typeface="Calibri"/>
              </a:defRPr>
            </a:pPr>
            <a:r>
              <a:t>Key: spectral norm only, no R1/GP/LR decay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96C7"/>
                </a:solidFill>
                <a:latin typeface="Calibri"/>
              </a:defRPr>
            </a:pPr>
            <a:r>
              <a:t>Generator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z(128) + class_embed(64)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Linear -&gt; 4x4x512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ResBlock (512-&gt;256, upsample 8x8)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ResBlock (256-&gt;128, upsample 16x16)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BN -&gt; ReLU -&gt; Conv -&gt; Tanh (32x32x3)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96C7"/>
                </a:solidFill>
                <a:latin typeface="Calibri"/>
              </a:defRPr>
            </a:pPr>
            <a:r>
              <a:t>Discriminator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image(3x32x32)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SN-Conv (3-&gt;128, downsample 16x16)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SN-ResBlock (128-&gt;256, downsample 8x8)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SN-ResBlock (256-&gt;512, downsample 4x4)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MinibatchStddev -&gt; ReLU -&gt; Linear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 -&gt; Projection conditioning with class embed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D93D"/>
                </a:solidFill>
                <a:latin typeface="Calibri"/>
              </a:defRPr>
            </a:pPr>
            <a:r>
              <a:t>Hinge Loss: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L_D = E[max(0, 1-D(real))] + E[max(0, 1+D(fake))]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L_G = -E[D(G(z))]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Training Results: Loss Curves &amp;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Loss over 100 epochs: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5943600" cy="2122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FFD93D"/>
                </a:solidFill>
                <a:latin typeface="Calibri"/>
              </a:defRPr>
            </a:pPr>
            <a:r>
              <a:t>Training Metrics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G loss:  5.69 -&gt; 2.54  (55% reduction)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D loss:  0.39 -&gt; 0.52  (stabilized)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D acc (real):  ~92%  (stable)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D acc (fake):  94% -&gt; 92%  (G slowly improving)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FFD93D"/>
                </a:solidFill>
                <a:latin typeface="Calibri"/>
              </a:defRPr>
            </a:pPr>
            <a:r>
              <a:t>Evaluation Metrics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Real accuracy:     62.45%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Fake accuracy:    87.64%</a:t>
            </a:r>
          </a:p>
          <a:p>
            <a:pPr>
              <a:spcBef>
                <a:spcPts val="400"/>
              </a:spcBef>
              <a:defRPr sz="1700">
                <a:solidFill>
                  <a:srgbClr val="FFFFFF"/>
                </a:solidFill>
                <a:latin typeface="Calibri"/>
              </a:defRPr>
            </a:pPr>
            <a:r>
              <a:t>Overall accuracy: 75.05%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4EC9B0"/>
                </a:solidFill>
                <a:latin typeface="Calibri"/>
              </a:defRPr>
            </a:pPr>
            <a:r>
              <a:t>Best class: Frog (D score 0.337)</a:t>
            </a:r>
          </a:p>
          <a:p>
            <a:pPr>
              <a:spcBef>
                <a:spcPts val="600"/>
              </a:spcBef>
              <a:defRPr sz="1700" b="1">
                <a:solidFill>
                  <a:srgbClr val="E04F4F"/>
                </a:solidFill>
                <a:latin typeface="Calibri"/>
              </a:defRPr>
            </a:pPr>
            <a:r>
              <a:t>Worst class: Airplane (D score 0.157)</a:t>
            </a:r>
          </a:p>
        </p:txBody>
      </p:sp>
      <p:pic>
        <p:nvPicPr>
          <p:cNvPr id="7" name="Picture 6" descr="generation_quality_per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75488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Generated Samples: Progression &amp; Final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Epoch 5</a:t>
            </a:r>
          </a:p>
        </p:txBody>
      </p:sp>
      <p:pic>
        <p:nvPicPr>
          <p:cNvPr id="5" name="Picture 4" descr="samples_epoch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Epoch 50</a:t>
            </a:r>
          </a:p>
        </p:txBody>
      </p:sp>
      <p:pic>
        <p:nvPicPr>
          <p:cNvPr id="7" name="Picture 6" descr="samples_epoch_0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63040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Epoch 100</a:t>
            </a:r>
          </a:p>
        </p:txBody>
      </p:sp>
      <p:pic>
        <p:nvPicPr>
          <p:cNvPr id="9" name="Picture 8" descr="samples_epoch_0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463040"/>
            <a:ext cx="36576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10 rows = 10 CIFAR-10 classes  |  10 columns = different random samples per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Evaluation: Class Variation &amp; Interpolation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Same noise z across all 10 classes:</a:t>
            </a:r>
          </a:p>
        </p:txBody>
      </p:sp>
      <p:pic>
        <p:nvPicPr>
          <p:cNvPr id="5" name="Picture 4" descr="class_var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303520" cy="2828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Latent space interpolation:</a:t>
            </a:r>
          </a:p>
        </p:txBody>
      </p:sp>
      <p:pic>
        <p:nvPicPr>
          <p:cNvPr id="7" name="Picture 6" descr="interpo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03520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 confidence on real vs fake:</a:t>
            </a:r>
          </a:p>
        </p:txBody>
      </p:sp>
      <p:pic>
        <p:nvPicPr>
          <p:cNvPr id="9" name="Picture 8" descr="confidence_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486400"/>
            <a:ext cx="1901952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212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FD93D"/>
                </a:solidFill>
                <a:latin typeface="Calibri"/>
              </a:defRPr>
            </a:pPr>
            <a:r>
              <a:t>Observations:</a:t>
            </a:r>
          </a:p>
          <a:p>
            <a:pPr>
              <a:spcBef>
                <a:spcPts val="400"/>
              </a:spcBef>
              <a:defRPr sz="1400">
                <a:solidFill>
                  <a:srgbClr val="FF9F43"/>
                </a:solidFill>
                <a:latin typeface="Calibri"/>
              </a:defRPr>
            </a:pPr>
            <a:r>
              <a:t>Minimal class differentiation — images look similar across classes</a:t>
            </a:r>
          </a:p>
          <a:p>
            <a:pPr>
              <a:spcBef>
                <a:spcPts val="400"/>
              </a:spcBef>
              <a:defRPr sz="1400">
                <a:solidFill>
                  <a:srgbClr val="4EC9B0"/>
                </a:solidFill>
                <a:latin typeface="Calibri"/>
              </a:defRPr>
            </a:pPr>
            <a:r>
              <a:t>Smooth latent interpolation — G learned a continuous manifold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D clearly separates real/fake — G quality is the bottleneck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