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Improving Conditional DCGAN on CIFAR-10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834640"/>
            <a:ext cx="6400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An iterative journey through 14 architectural and training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6C7"/>
                </a:solidFill>
                <a:latin typeface="Calibri"/>
              </a:defRPr>
            </a:pPr>
            <a:r>
              <a:t>SCP-M Project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Starting Point: Baseline Conditional DCGAN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FFD93D"/>
                </a:solidFill>
                <a:latin typeface="Calibri"/>
              </a:defRPr>
            </a:pPr>
            <a:r>
              <a:t>Architecture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Generator: Linear → ConvTranspose2d (256→128→64→3)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Discriminator: Strided Conv2d (64→128→256) + projection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Class conditioning: embedding concatenated to z at input only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FFD93D"/>
                </a:solidFill>
                <a:latin typeface="Calibri"/>
              </a:defRPr>
            </a:pPr>
            <a:r>
              <a:t>Training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Vanilla BCE loss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Adam (lr=2e-4, β₁=0.5, β₂=0.999)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50 epochs, batch size 128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E04F4F"/>
                </a:solidFill>
                <a:latin typeface="Calibri"/>
              </a:defRPr>
            </a:pPr>
            <a:r>
              <a:t>Problem: mediocre image quality, no class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Baseline samples:</a:t>
            </a:r>
          </a:p>
        </p:txBody>
      </p:sp>
      <p:pic>
        <p:nvPicPr>
          <p:cNvPr id="6" name="Picture 5" descr="samples_epoch_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C7"/>
                </a:solidFill>
                <a:latin typeface="Calibri"/>
              </a:defRPr>
            </a:pPr>
            <a:r>
              <a:t>Fix #1: WGAN-GP + Spectral Norm + Residual Architectures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4EC9B0"/>
                </a:solidFill>
                <a:latin typeface="Calibri"/>
              </a:defRPr>
            </a:pPr>
            <a:r>
              <a:t>What I changed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Switched from BCE to WGAN-GP loss (Wasserstein + gradient penalty)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Added spectral normalization on discriminator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Added residual connections in both G and D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Increased latent dim: 100 → 128, embed dim: 50 → 64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FFD93D"/>
                </a:solidFill>
                <a:latin typeface="Calibri"/>
              </a:defRPr>
            </a:pPr>
            <a:r>
              <a:t>What I expected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More stable training gradients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Better image quality from deeper architecture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E04F4F"/>
                </a:solidFill>
                <a:latin typeface="Calibri"/>
              </a:defRPr>
            </a:pPr>
            <a:r>
              <a:t>Result</a:t>
            </a:r>
          </a:p>
          <a:p>
            <a:pPr>
              <a:spcBef>
                <a:spcPts val="400"/>
              </a:spcBef>
              <a:defRPr sz="1600">
                <a:solidFill>
                  <a:srgbClr val="E04F4F"/>
                </a:solidFill>
                <a:latin typeface="Calibri"/>
              </a:defRPr>
            </a:pPr>
            <a:r>
              <a:t>Discriminator collapsed — D loss → 0, G couldn't learn</a:t>
            </a:r>
          </a:p>
          <a:p>
            <a:pPr>
              <a:spcBef>
                <a:spcPts val="400"/>
              </a:spcBef>
              <a:defRPr sz="1600">
                <a:solidFill>
                  <a:srgbClr val="E04F4F"/>
                </a:solidFill>
                <a:latin typeface="Calibri"/>
              </a:defRPr>
            </a:pPr>
            <a:r>
              <a:t>WGAN-GP + SN = double Lipschitz constraint (over-regularization)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2801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⚠ No saved images from this run</a:t>
            </a:r>
            <a:br/>
            <a:br/>
            <a:r>
              <a:t>D loss went to ~0 within a few epochs.</a:t>
            </a:r>
            <a:br/>
            <a:r>
              <a:t>Generator received no useful gradients.</a:t>
            </a:r>
            <a:br/>
            <a:br/>
            <a:r>
              <a:t>Key lesson: WGAN-GP and Spectral Norm</a:t>
            </a:r>
            <a:br/>
            <a:r>
              <a:t>are incompatible — both constrain</a:t>
            </a:r>
            <a:br/>
            <a:r>
              <a:t>the Lipschitz constant of D, leading</a:t>
            </a:r>
            <a:br/>
            <a:r>
              <a:t>to over-regularization.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C7"/>
                </a:solidFill>
                <a:latin typeface="Calibri"/>
              </a:defRPr>
            </a:pPr>
            <a:r>
              <a:t>Fixes #2–4: Training Dynamics — TTUR, R1, LR Decay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4EC9B0"/>
                </a:solidFill>
                <a:latin typeface="Calibri"/>
              </a:defRPr>
            </a:pPr>
            <a:r>
              <a:t>Fix #2: TTUR + 2:1 D steps + β₂=0.9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Two-Timescale Update Rule (higher D learning rate)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D trained 2x per G step</a:t>
            </a:r>
          </a:p>
          <a:p>
            <a:pPr>
              <a:spcBef>
                <a:spcPts val="400"/>
              </a:spcBef>
              <a:defRPr sz="1500">
                <a:solidFill>
                  <a:srgbClr val="FF9F43"/>
                </a:solidFill>
                <a:latin typeface="Calibri"/>
              </a:defRPr>
            </a:pPr>
            <a:r>
              <a:t>Result: D collapse continued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4EC9B0"/>
                </a:solidFill>
                <a:latin typeface="Calibri"/>
              </a:defRPr>
            </a:pPr>
            <a:r>
              <a:t>Fix #3: LR decay + R1 penalty + SN init fix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Added R1 gradient penalty (γ=1.0)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Added learning rate decay schedule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Fixed spectral norm weight initialization bug</a:t>
            </a:r>
          </a:p>
          <a:p>
            <a:pPr>
              <a:spcBef>
                <a:spcPts val="400"/>
              </a:spcBef>
              <a:defRPr sz="1500">
                <a:solidFill>
                  <a:srgbClr val="FF9F43"/>
                </a:solidFill>
                <a:latin typeface="Calibri"/>
              </a:defRPr>
            </a:pPr>
            <a:r>
              <a:t>Result: D still collapsed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4EC9B0"/>
                </a:solidFill>
                <a:latin typeface="Calibri"/>
              </a:defRPr>
            </a:pPr>
            <a:r>
              <a:t>Fix #4: Switch to SNGAN ResNet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Full residual blocks in G and D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Dropped WGAN-GP, kept hinge loss + SN</a:t>
            </a:r>
          </a:p>
          <a:p>
            <a:pPr>
              <a:spcBef>
                <a:spcPts val="400"/>
              </a:spcBef>
              <a:defRPr sz="1500">
                <a:solidFill>
                  <a:srgbClr val="FFD93D"/>
                </a:solidFill>
                <a:latin typeface="Calibri"/>
              </a:defRPr>
            </a:pPr>
            <a:r>
              <a:t>Result: D collapse FIXED ✓  but G underfitting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FFD93D"/>
                </a:solidFill>
                <a:latin typeface="Calibri"/>
              </a:defRPr>
            </a:pPr>
            <a:r>
              <a:t>Key takeaways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WGAN-GP incompatible with spectral norm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TTUR doesn't help when architecture is the bottleneck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R1 + SN = double regularization → kills D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ResNet architecture was the real fix for D collapse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0096C7"/>
                </a:solidFill>
                <a:latin typeface="Calibri"/>
              </a:defRPr>
            </a:pPr>
            <a:r>
              <a:t>Architecture after fix #4: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G: Project→4×4 → ResBlock(512→256) → ResBlock(256→128) → Conv→32×32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D: Conv→16×16 → ResBlock(128→256) → ResBlock(256→512) → Linear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Loss: Hinge loss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Regularization: Spectral norm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C7"/>
                </a:solidFill>
                <a:latin typeface="Calibri"/>
              </a:defRPr>
            </a:pPr>
            <a:r>
              <a:t>Fixes #5–8: Removing Over-Regularization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4EC9B0"/>
                </a:solidFill>
                <a:latin typeface="Calibri"/>
              </a:defRPr>
            </a:pPr>
            <a:r>
              <a:t>Fix #5: Equalize LRs, strengthen R1, delay decay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Set lr_g = lr_d = 2e-4 (removed TTUR)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Increased R1 gamma, delayed LR decay start</a:t>
            </a:r>
          </a:p>
          <a:p>
            <a:pPr>
              <a:spcBef>
                <a:spcPts val="400"/>
              </a:spcBef>
              <a:defRPr sz="1500">
                <a:solidFill>
                  <a:srgbClr val="FF9F43"/>
                </a:solidFill>
                <a:latin typeface="Calibri"/>
              </a:defRPr>
            </a:pPr>
            <a:r>
              <a:t>Result: G still underfitting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4EC9B0"/>
                </a:solidFill>
                <a:latin typeface="Calibri"/>
              </a:defRPr>
            </a:pPr>
            <a:r>
              <a:t>Fix #6: Disable R1 penalty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SN already bounds Lipschitz → R1 is redundant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Set r1_gamma = 0.0</a:t>
            </a:r>
          </a:p>
          <a:p>
            <a:pPr>
              <a:spcBef>
                <a:spcPts val="400"/>
              </a:spcBef>
              <a:defRPr sz="1500">
                <a:solidFill>
                  <a:srgbClr val="FFD93D"/>
                </a:solidFill>
                <a:latin typeface="Calibri"/>
              </a:defRPr>
            </a:pPr>
            <a:r>
              <a:t>Result: Slight improvement ✓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4EC9B0"/>
                </a:solidFill>
                <a:latin typeface="Calibri"/>
              </a:defRPr>
            </a:pPr>
            <a:r>
              <a:t>Fix #7: Disable LR decay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Constant LR prevents late-stage D-G collapse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Set lr_decay_start = 1.0 (never decays)</a:t>
            </a:r>
          </a:p>
          <a:p>
            <a:pPr>
              <a:spcBef>
                <a:spcPts val="400"/>
              </a:spcBef>
              <a:defRPr sz="1500">
                <a:solidFill>
                  <a:srgbClr val="FFD93D"/>
                </a:solidFill>
                <a:latin typeface="Calibri"/>
              </a:defRPr>
            </a:pPr>
            <a:r>
              <a:t>Result: Stopped late-stage collapse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4EC9B0"/>
                </a:solidFill>
                <a:latin typeface="Calibri"/>
              </a:defRPr>
            </a:pPr>
            <a:r>
              <a:t>Fix #8: Weight init experiments</a:t>
            </a:r>
          </a:p>
          <a:p>
            <a:pPr>
              <a:spcBef>
                <a:spcPts val="400"/>
              </a:spcBef>
              <a:defRPr sz="1500">
                <a:solidFill>
                  <a:srgbClr val="E04F4F"/>
                </a:solidFill>
                <a:latin typeface="Calibri"/>
              </a:defRPr>
            </a:pPr>
            <a:r>
              <a:t>Tried zero residual init → Tanh saturation (gray images!)</a:t>
            </a:r>
          </a:p>
          <a:p>
            <a:pPr>
              <a:spcBef>
                <a:spcPts val="400"/>
              </a:spcBef>
              <a:defRPr sz="1500">
                <a:solidFill>
                  <a:srgbClr val="4EC9B0"/>
                </a:solidFill>
                <a:latin typeface="Calibri"/>
              </a:defRPr>
            </a:pPr>
            <a:r>
              <a:t>Switched to gain=0.1 init → fixed gray images</a:t>
            </a:r>
          </a:p>
          <a:p>
            <a:pPr>
              <a:spcBef>
                <a:spcPts val="400"/>
              </a:spcBef>
              <a:defRPr sz="1500">
                <a:solidFill>
                  <a:srgbClr val="E04F4F"/>
                </a:solidFill>
                <a:latin typeface="Calibri"/>
              </a:defRPr>
            </a:pPr>
            <a:r>
              <a:t>Tried weight_decay on G → killed generator</a:t>
            </a:r>
          </a:p>
          <a:p>
            <a:pPr>
              <a:spcBef>
                <a:spcPts val="400"/>
              </a:spcBef>
              <a:defRPr sz="1500">
                <a:solidFill>
                  <a:srgbClr val="4EC9B0"/>
                </a:solidFill>
                <a:latin typeface="Calibri"/>
              </a:defRPr>
            </a:pPr>
            <a:r>
              <a:t>Removed weight_decay_g → G alive again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FFD93D"/>
                </a:solidFill>
                <a:latin typeface="Calibri"/>
              </a:defRPr>
            </a:pPr>
            <a:r>
              <a:t>Pattern: less regularization = better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4EC9B0"/>
                </a:solidFill>
                <a:latin typeface="Calibri"/>
              </a:defRPr>
            </a:pPr>
            <a:r>
              <a:t>Removed WGAN-GP ✓</a:t>
            </a:r>
          </a:p>
          <a:p>
            <a:pPr>
              <a:spcBef>
                <a:spcPts val="400"/>
              </a:spcBef>
              <a:defRPr sz="1600">
                <a:solidFill>
                  <a:srgbClr val="4EC9B0"/>
                </a:solidFill>
                <a:latin typeface="Calibri"/>
              </a:defRPr>
            </a:pPr>
            <a:r>
              <a:t>Removed R1 penalty ✓</a:t>
            </a:r>
          </a:p>
          <a:p>
            <a:pPr>
              <a:spcBef>
                <a:spcPts val="400"/>
              </a:spcBef>
              <a:defRPr sz="1600">
                <a:solidFill>
                  <a:srgbClr val="4EC9B0"/>
                </a:solidFill>
                <a:latin typeface="Calibri"/>
              </a:defRPr>
            </a:pPr>
            <a:r>
              <a:t>Removed LR decay ✓</a:t>
            </a:r>
          </a:p>
          <a:p>
            <a:pPr>
              <a:spcBef>
                <a:spcPts val="400"/>
              </a:spcBef>
              <a:defRPr sz="1600">
                <a:solidFill>
                  <a:srgbClr val="4EC9B0"/>
                </a:solidFill>
                <a:latin typeface="Calibri"/>
              </a:defRPr>
            </a:pPr>
            <a:r>
              <a:t>Removed weight decay on G ✓</a:t>
            </a:r>
          </a:p>
          <a:p>
            <a:pPr>
              <a:spcBef>
                <a:spcPts val="400"/>
              </a:spcBef>
              <a:defRPr sz="1600">
                <a:solidFill>
                  <a:srgbClr val="0096C7"/>
                </a:solidFill>
                <a:latin typeface="Calibri"/>
              </a:defRPr>
            </a:pPr>
            <a:r>
              <a:t>Only spectral norm remains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C7"/>
                </a:solidFill>
                <a:latin typeface="Calibri"/>
              </a:defRPr>
            </a:pPr>
            <a:r>
              <a:t>Fix #9 (Final): d_steps=5 — The Real Fix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4EC9B0"/>
                </a:solidFill>
                <a:latin typeface="Calibri"/>
              </a:defRPr>
            </a:pPr>
            <a:r>
              <a:t>What I changed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Set d_steps=5 (train D five times per G step)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Following SNGAN paper exactly (Miyato et al., 2018)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Fixed spectral norm initialization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FFD93D"/>
                </a:solidFill>
                <a:latin typeface="Calibri"/>
              </a:defRPr>
            </a:pPr>
            <a:r>
              <a:t>Why it worked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D was undertrained → gave G poor gradients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5:1 ratio lets D develop a strong signal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G then gets meaningful gradient to follow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96C7"/>
                </a:solidFill>
                <a:latin typeface="Calibri"/>
              </a:defRPr>
            </a:pPr>
            <a:r>
              <a:t>Final best config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SNGAN ResNet + Hinge loss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SN only (no R1, no GP, no decay)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Adam(β₁=0.0, β₂=0.9), lr=2e-4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d_steps=5, EMA decay=0.999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100 epochs, batch size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Final run — training curves:</a:t>
            </a:r>
          </a:p>
        </p:txBody>
      </p:sp>
      <p:pic>
        <p:nvPicPr>
          <p:cNvPr id="6" name="Picture 5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18941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C7"/>
                </a:solidFill>
                <a:latin typeface="Calibri"/>
              </a:defRPr>
            </a:pPr>
            <a:r>
              <a:t>Final Run: Sample Progression Over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93D"/>
                </a:solidFill>
                <a:latin typeface="Calibri"/>
              </a:defRPr>
            </a:pPr>
            <a:r>
              <a:t>Epoch 5</a:t>
            </a:r>
          </a:p>
        </p:txBody>
      </p:sp>
      <p:pic>
        <p:nvPicPr>
          <p:cNvPr id="5" name="Picture 4" descr="samples_epoch_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2743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4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93D"/>
                </a:solidFill>
                <a:latin typeface="Calibri"/>
              </a:defRPr>
            </a:pPr>
            <a:r>
              <a:t>Epoch 25</a:t>
            </a:r>
          </a:p>
        </p:txBody>
      </p:sp>
      <p:pic>
        <p:nvPicPr>
          <p:cNvPr id="7" name="Picture 6" descr="samples_epoch_0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554480"/>
            <a:ext cx="27432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93D"/>
                </a:solidFill>
                <a:latin typeface="Calibri"/>
              </a:defRPr>
            </a:pPr>
            <a:r>
              <a:t>Epoch 50</a:t>
            </a:r>
          </a:p>
        </p:txBody>
      </p:sp>
      <p:pic>
        <p:nvPicPr>
          <p:cNvPr id="9" name="Picture 8" descr="samples_epoch_00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554480"/>
            <a:ext cx="27432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93D"/>
                </a:solidFill>
                <a:latin typeface="Calibri"/>
              </a:defRPr>
            </a:pPr>
            <a:r>
              <a:t>Epoch 100</a:t>
            </a:r>
          </a:p>
        </p:txBody>
      </p:sp>
      <p:pic>
        <p:nvPicPr>
          <p:cNvPr id="11" name="Picture 10" descr="samples_epoch_01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554480"/>
            <a:ext cx="274320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Each grid: 10 rows (one per CIFAR-10 class) × 10 samples per class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C7"/>
                </a:solidFill>
                <a:latin typeface="Calibri"/>
              </a:defRPr>
            </a:pPr>
            <a:r>
              <a:t>Final Results: Quantitative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FFD93D"/>
                </a:solidFill>
                <a:latin typeface="Calibri"/>
              </a:defRPr>
            </a:pPr>
            <a:r>
              <a:t>Discriminator Evaluation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Real image accuracy:  62.45%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Fake image accuracy:  87.64%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Overall accuracy:       75.05%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FFD93D"/>
                </a:solidFill>
                <a:latin typeface="Calibri"/>
              </a:defRPr>
            </a:pPr>
            <a:r>
              <a:t>Training Metrics (100 epochs)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G loss: 5.69 → 2.54 (55% reduction)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D loss: 0.39 → 0.52 (stabilized)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D accuracy (real): ~92%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D accuracy (fake): ~92%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Generation quality per class:</a:t>
            </a:r>
          </a:p>
        </p:txBody>
      </p:sp>
      <p:pic>
        <p:nvPicPr>
          <p:cNvPr id="6" name="Picture 5" descr="generation_quality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4864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 confidence distribution:</a:t>
            </a:r>
          </a:p>
        </p:txBody>
      </p:sp>
      <p:pic>
        <p:nvPicPr>
          <p:cNvPr id="8" name="Picture 7" descr="confidence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937760"/>
            <a:ext cx="4572000" cy="2857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Best class: Frog (0.337)  |  Worst: Airplane (0.157)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C7"/>
                </a:solidFill>
                <a:latin typeface="Calibri"/>
              </a:defRPr>
            </a:pPr>
            <a:r>
              <a:t>Final Results: Class Variation &amp; Interpolation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Same z, all 10 classes:</a:t>
            </a:r>
          </a:p>
        </p:txBody>
      </p:sp>
      <p:pic>
        <p:nvPicPr>
          <p:cNvPr id="5" name="Picture 4" descr="class_var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029200" cy="2682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Latent space interpolation:</a:t>
            </a:r>
          </a:p>
        </p:txBody>
      </p:sp>
      <p:pic>
        <p:nvPicPr>
          <p:cNvPr id="7" name="Picture 6" descr="interpo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03520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9F43"/>
                </a:solidFill>
                <a:latin typeface="Calibri"/>
              </a:defRPr>
            </a:pPr>
            <a:r>
              <a:t>Observation: minimal class differentiation visible — images look similar across classes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C7"/>
                </a:solidFill>
                <a:latin typeface="Calibri"/>
              </a:defRPr>
            </a:pPr>
            <a:r>
              <a:t>Why Results Plateau: Architectural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E04F4F"/>
                </a:solidFill>
                <a:latin typeface="Calibri"/>
              </a:defRPr>
            </a:pPr>
            <a:r>
              <a:t>1. Weak Class Conditioning (Primary)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Class label injected only at input → dilutes through layers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Fix: Conditional BatchNorm at every layer (SNGAN/BigGAN)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E04F4F"/>
                </a:solidFill>
                <a:latin typeface="Calibri"/>
              </a:defRPr>
            </a:pPr>
            <a:r>
              <a:t>2. No Self-Attention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Only 3×3 convolutions → no global spatial coherence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Fix: Self-attention layer at 16×16 resolution (SAGAN)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E04F4F"/>
                </a:solidFill>
                <a:latin typeface="Calibri"/>
              </a:defRPr>
            </a:pPr>
            <a:r>
              <a:t>3. Shallow Final Stage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Single conv for 16×16→32×32 (most important resolution)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Fix: Full residual block for every resolution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FFD93D"/>
                </a:solidFill>
                <a:latin typeface="Calibri"/>
              </a:defRPr>
            </a:pPr>
            <a:r>
              <a:t>Key insight: all 14 fixes addressed training dynamics,</a:t>
            </a:r>
          </a:p>
          <a:p>
            <a:pPr>
              <a:spcBef>
                <a:spcPts val="600"/>
              </a:spcBef>
              <a:defRPr sz="1700" b="1">
                <a:solidFill>
                  <a:srgbClr val="FFD93D"/>
                </a:solidFill>
                <a:latin typeface="Calibri"/>
              </a:defRPr>
            </a:pPr>
            <a:r>
              <a:t>none addressed model expressiveness.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FFD93D"/>
                </a:solidFill>
                <a:latin typeface="Calibri"/>
              </a:defRPr>
            </a:pPr>
            <a:r>
              <a:t>FID Comparison (CIFAR-10)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0">
                <a:solidFill>
                  <a:srgbClr val="E04F4F"/>
                </a:solidFill>
                <a:latin typeface="Calibri"/>
              </a:defRPr>
            </a:pPr>
            <a:r>
              <a:t>Ours (baseline)       ~80–120</a:t>
            </a:r>
          </a:p>
          <a:p>
            <a:pPr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SNGAN (+ cBN)          21.7</a:t>
            </a:r>
          </a:p>
          <a:p>
            <a:pPr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SAGAN (+ attention)   18.3</a:t>
            </a:r>
          </a:p>
          <a:p>
            <a:pPr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BigGAN                      14.7</a:t>
            </a:r>
          </a:p>
          <a:p>
            <a:pPr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StyleGAN2-ADA          2.4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0096C7"/>
                </a:solidFill>
                <a:latin typeface="Calibri"/>
              </a:defRPr>
            </a:pPr>
            <a:r>
              <a:t>The gap is entirely architectural.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Training is stable and correct —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generator has hit its capacity ceiling.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Summary of My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FFD93D"/>
                </a:solidFill>
                <a:latin typeface="Calibri"/>
              </a:defRPr>
            </a:pPr>
            <a:r>
              <a:t>What I did (14 iterative fixes over 1 month)</a:t>
            </a:r>
          </a:p>
          <a:p>
            <a:pPr>
              <a:spcBef>
                <a:spcPts val="6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Started with vanilla cDCGAN baseline → poor quality, no class differentiation</a:t>
            </a: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Tried WGAN-GP + spectral norm → D collapsed (incompatible regularization)</a:t>
            </a: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Tried TTUR, R1 penalty, LR decay → all caused more instability</a:t>
            </a: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Switched to SNGAN ResNet → fixed D collapse</a:t>
            </a: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Systematically removed over-regularization (R1, LR decay, weight decay)</a:t>
            </a: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Final fix: d_steps=5 (SNGAN paper) → best and stable result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FFD93D"/>
                </a:solidFill>
                <a:latin typeface="Calibri"/>
              </a:defRPr>
            </a:pPr>
            <a:r>
              <a:t>What I found</a:t>
            </a:r>
          </a:p>
          <a:p>
            <a:pPr>
              <a:spcBef>
                <a:spcPts val="6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Training is now stable and correct (no collapse, no divergence)</a:t>
            </a: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Visual quality plateaus: blurry blobs, minimal class differentiation</a:t>
            </a: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Root cause is architectural, not hyperparameter: missing Conditional BatchNorm and self-attention</a:t>
            </a: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Estimated FID ~80–120 vs published SNGAN FID of 21.7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